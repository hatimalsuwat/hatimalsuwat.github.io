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5" r:id="rId3"/>
    <p:sldId id="286" r:id="rId4"/>
    <p:sldId id="456" r:id="rId5"/>
    <p:sldId id="307" r:id="rId6"/>
    <p:sldId id="457" r:id="rId7"/>
    <p:sldId id="268" r:id="rId8"/>
    <p:sldId id="308" r:id="rId9"/>
    <p:sldId id="306" r:id="rId10"/>
    <p:sldId id="4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75122"/>
  </p:normalViewPr>
  <p:slideViewPr>
    <p:cSldViewPr snapToGrid="0">
      <p:cViewPr varScale="1">
        <p:scale>
          <a:sx n="73" d="100"/>
          <a:sy n="73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536CD-78F0-8D40-9D5F-FC155B5F4D68}" type="datetimeFigureOut">
              <a:rPr lang="en-SA" smtClean="0"/>
              <a:t>08/30/2026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EA9C4-9313-DA4F-901C-E41DC4006D0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686935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EA9C4-9313-DA4F-901C-E41DC4006D0B}" type="slidenum">
              <a:rPr lang="en-SA" smtClean="0"/>
              <a:t>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282377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AE597F98-8865-4043-26E3-206C724321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E55B207A-A555-A453-D71A-BB5D8E023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291BBCC0-8FB0-D957-C8CD-5200B36D5A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FD86BE1-AC3B-43E9-8D99-9EED3E654290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6B40DFFA-5475-D638-E274-DC94366F9E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08993F56-22FA-9D7F-9F14-CE68F37A59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363CAB05-5552-CF5C-508A-8B8ACE08FC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8F2B196-0E0D-4FE7-B522-18720D2E2035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80594B65-C273-8FA8-469C-8EA06848D7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D5A02B59-A653-B61B-8A2B-F4BBE34F5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84346695-E9BD-2E58-E32E-07AA68458F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A76C61-357B-4BA1-8FC3-84E1387DEBFF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17DC5B20-A8E7-12AB-46C9-CA52A1CF62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BBA1CCC4-D184-84E5-978D-076529110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641E95A-ACEE-0898-9098-36692B5E9F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9C8D5A-51E7-4E20-A04F-5239CEBFFD2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EA9C4-9313-DA4F-901C-E41DC4006D0B}" type="slidenum">
              <a:rPr lang="en-SA" smtClean="0"/>
              <a:t>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20444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B8918D58-6C65-E421-5677-8224CCB59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94CF9903-7110-F10C-FA38-6A579CFEC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CBC8BD97-7EAD-CCF9-2495-FA00F6528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7CDBE3-BE14-486A-852B-B0E447BCC669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61EE-9C79-4D95-3326-4A973EF7B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65CEF-BAF6-52F1-97BA-90313D471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A65FE-8DE2-E6F4-1255-CA1DB4F9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5E7B9-ACC0-2898-642C-8AB8879C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9C7BE-A903-F843-25BA-0A1D623D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7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6E56-4F5A-2AA1-2FF7-3B2FC946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222E6-2C69-C579-D6C3-4D22837F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56200-5B0D-B52B-34FC-FC453E67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0B9BF-F41E-3A17-EBCD-F8DC437D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EFF0D-AE26-0D2E-8018-A954220D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7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7E7D-2E7D-A342-8C9C-CC2B1704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A334D-5104-B90D-191E-CC27A36E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CC3E6-9452-13E3-E343-A2732AA7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23BB7-94F5-1352-BE49-008CF3BE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CD64F-A0C7-C535-8226-5E8DA237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26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D0F41-901F-2222-2454-981A85D53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C1738-7CFA-4BD1-4F9D-3CD9514E2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220AD-4571-5EBE-D261-FDBAD2515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8B234-548A-5950-1346-96553104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58035-210C-5120-E54E-33204287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00FB7-4FF3-3298-C445-00A8D9F6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2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17E9-0924-62C0-4FD9-CF9E5698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E3EEE-F3F4-600C-BA1C-E97A01EFA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17C37-541E-EAB7-9E5B-854EFC604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57A067-8316-D0CB-F2BD-A130B8767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E1DB33-3F75-AFC8-770E-7BA9DA673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9F0DC6-990A-1C84-E40C-EBC2CDEE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B6FC8-0D79-1B7C-7946-6F84A2C1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96D9D9-3419-4B70-BB27-8DAA0696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9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A2D8-6A2B-B71F-266E-D0FF2D50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84739-2066-934A-4281-6B7E77DD0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4E8F8-BC76-9C2B-D9CC-B4D8CDF8C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95052-74D0-C4C9-D4B5-9245B18A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00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6FDEB-8DF3-0EA0-5F6D-D838C20D2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A1AC9-443E-FBDD-23BC-07CF7A9F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9EE16-3806-A409-0919-5D3C17AC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1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B78C-0542-A89F-B0C2-DA968D2E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BCEB1-994F-69CF-0459-5D358D9C3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B2334-249C-0203-93DD-31CD76DFE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CB34F-8215-42A5-641B-BC827F7B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382CC-73BA-F09F-3370-6C20EC00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FD765-F997-5719-4B46-18C439B5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3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2E3EE-F1F0-7AAB-25E4-5ACF1EF5C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512B9-D532-89B2-7D64-E4923385B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AC2F6-2164-FD4F-1BDF-4526EE753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DAE9A-C811-D135-A366-A1D61EC8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E136F-7C0B-1CCC-E101-C19B9F6D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58C3A-6439-2AAC-D22F-25499043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9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2F34-E775-0103-F401-89BA9873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ADDFD-6F0C-68DB-95F6-6697F0446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61A51-72CD-99DF-54DF-97A4E14F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873A-B010-E191-D846-21A1EB50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78751-8170-A241-454D-8ADC0541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1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C67CFA-D9DA-0AF1-717C-50D3538D6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A8BC5-E089-A52D-466B-F098D9E59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7C697-AA3C-18A2-ED8A-FCC1A49A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D9DB3-F4B6-41D7-C792-B5370169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B9F09-CD37-1FFF-235A-347CCA9A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2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880A4-D2D3-71A5-BDB9-EB809498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C8192-B7AB-067C-243C-6CCFF5688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1AF67-5D5B-7F0B-D2C8-EAAC2C59B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C5D87-5F0B-42C0-BFD5-4178020F47E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319F-86F1-A710-CB1F-B5EF640E2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06307-DA29-6118-2460-6D5404FCF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CB577-ACE4-4B13-B064-5CCD29F35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2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8F770-A31B-D48E-1194-F9232C3C1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25" y="1321056"/>
            <a:ext cx="10684151" cy="1991979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45A7B5"/>
                </a:solidFill>
                <a:effectLst/>
                <a:latin typeface="Helvetica" pitchFamily="2" charset="0"/>
              </a:rPr>
              <a:t>Databases Administration and Security (SEC2203)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4A8FF-A5AA-1A61-DEB5-914AA78EC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7" y="3980520"/>
            <a:ext cx="9469211" cy="865639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Dr. Hatim Alsuwat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8CFBB70-7233-6C08-6651-29AA09FB8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871" y="143266"/>
            <a:ext cx="1943100" cy="714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324B60-B2F0-A1B5-0C20-497B13074B80}"/>
              </a:ext>
            </a:extLst>
          </p:cNvPr>
          <p:cNvSpPr txBox="1"/>
          <p:nvPr/>
        </p:nvSpPr>
        <p:spPr>
          <a:xfrm>
            <a:off x="4521184" y="5013724"/>
            <a:ext cx="3170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sz="2800" dirty="0"/>
              <a:t>Introduction Lecture</a:t>
            </a:r>
          </a:p>
        </p:txBody>
      </p:sp>
    </p:spTree>
    <p:extLst>
      <p:ext uri="{BB962C8B-B14F-4D97-AF65-F5344CB8AC3E}">
        <p14:creationId xmlns:p14="http://schemas.microsoft.com/office/powerpoint/2010/main" val="268910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6833A99-F0BC-9DC0-A238-80F1A6EE5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Course</a:t>
            </a:r>
            <a:r>
              <a:rPr lang="en-US" altLang="en-US" dirty="0"/>
              <a:t> </a:t>
            </a: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Information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FDFE8F3-C955-3B3E-3C2F-49543391A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17896" y="2364303"/>
            <a:ext cx="4572000" cy="3962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dirty="0"/>
              <a:t>Communication: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dirty="0"/>
              <a:t>Announcements on webpage/ emails/ blackboard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dirty="0"/>
              <a:t>Questions?  Email me.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dirty="0"/>
              <a:t>Staff email: hssuwat@uqu.edu.sa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000" dirty="0"/>
              <a:t>Course technology: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dirty="0"/>
              <a:t>Website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dirty="0"/>
              <a:t>UQU Blackboard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dirty="0"/>
              <a:t>Regular homework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dirty="0"/>
              <a:t>Help us make it awesome!</a:t>
            </a:r>
          </a:p>
          <a:p>
            <a:pPr eaLnBrk="1" hangingPunct="1">
              <a:defRPr/>
            </a:pPr>
            <a:endParaRPr lang="en-US" altLang="en-US" sz="1800" dirty="0"/>
          </a:p>
        </p:txBody>
      </p:sp>
      <p:sp>
        <p:nvSpPr>
          <p:cNvPr id="7172" name="مستطيل 2">
            <a:extLst>
              <a:ext uri="{FF2B5EF4-FFF2-40B4-BE49-F238E27FC236}">
                <a16:creationId xmlns:a16="http://schemas.microsoft.com/office/drawing/2014/main" id="{47114DF9-9C81-9B61-FA00-CEA900613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4" y="1828800"/>
            <a:ext cx="98668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https://hatimalsuwat.github.io/Databases%20Administration%20and%20Security%202026.html</a:t>
            </a:r>
            <a:endParaRPr lang="ar-SA" altLang="en-US" sz="18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EF91D-0910-0FA6-AA7D-763B3922E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64303"/>
            <a:ext cx="6451242" cy="4128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2C15E83-AC24-DEF9-244A-29680CA50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Course</a:t>
            </a:r>
            <a:r>
              <a:rPr lang="en-US" altLang="en-US" dirty="0"/>
              <a:t> </a:t>
            </a: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Information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BDDC1E0-CA16-D11E-A45E-892BFB865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2057400"/>
            <a:ext cx="7747000" cy="3657600"/>
          </a:xfrm>
        </p:spPr>
        <p:txBody>
          <a:bodyPr/>
          <a:lstStyle/>
          <a:p>
            <a:pPr>
              <a:defRPr/>
            </a:pPr>
            <a:r>
              <a:rPr lang="en-US" altLang="en-US" sz="1600" dirty="0">
                <a:ea typeface="ＭＳ Ｐゴシック" panose="020B0600070205080204" pitchFamily="34" charset="-128"/>
                <a:cs typeface="Calibri" panose="020F0502020204030204" pitchFamily="34" charset="0"/>
              </a:rPr>
              <a:t>Course Website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en-US" sz="1600" dirty="0"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https://hatimalsuwat.github.io/Databases%20Administration%20and%20Security.html</a:t>
            </a:r>
            <a:endParaRPr lang="ar-SA" altLang="en-US" sz="16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16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Discussion:</a:t>
            </a:r>
          </a:p>
          <a:p>
            <a:pPr lvl="1" eaLnBrk="1" hangingPunct="1">
              <a:lnSpc>
                <a:spcPct val="200000"/>
              </a:lnSpc>
              <a:defRPr/>
            </a:pPr>
            <a:r>
              <a:rPr lang="en-US" altLang="en-US" sz="1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 Please ask any question during the lecture (don’t be shy)</a:t>
            </a:r>
          </a:p>
          <a:p>
            <a:pPr lvl="1" eaLnBrk="1" hangingPunct="1">
              <a:lnSpc>
                <a:spcPct val="200000"/>
              </a:lnSpc>
              <a:defRPr/>
            </a:pPr>
            <a:r>
              <a:rPr lang="en-US" altLang="en-US" sz="1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There is no such thing as a stupid question.</a:t>
            </a:r>
          </a:p>
          <a:p>
            <a:pPr lvl="1" eaLnBrk="1" hangingPunct="1">
              <a:lnSpc>
                <a:spcPct val="200000"/>
              </a:lnSpc>
              <a:defRPr/>
            </a:pPr>
            <a:r>
              <a:rPr lang="en-US" altLang="en-US" sz="1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Answer others’ questions - if you know the answer ;-) </a:t>
            </a:r>
          </a:p>
          <a:p>
            <a:pPr lvl="1" eaLnBrk="1" hangingPunct="1">
              <a:lnSpc>
                <a:spcPct val="200000"/>
              </a:lnSpc>
              <a:defRPr/>
            </a:pPr>
            <a:r>
              <a:rPr lang="en-US" altLang="en-US" sz="1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Learn from others’ questions and answers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1500" dirty="0"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4BE5652-DBAC-B74E-9ADA-3717EE77A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Course</a:t>
            </a:r>
            <a:r>
              <a:rPr lang="en-US" altLang="en-US" dirty="0"/>
              <a:t> </a:t>
            </a: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Information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2306442-ACAF-73E8-BE1A-3501745D41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1"/>
            <a:ext cx="8077200" cy="3394075"/>
          </a:xfrm>
        </p:spPr>
        <p:txBody>
          <a:bodyPr/>
          <a:lstStyle/>
          <a:p>
            <a:pPr>
              <a:defRPr/>
            </a:pPr>
            <a:r>
              <a:rPr lang="en-US" sz="2000" b="1" dirty="0"/>
              <a:t>Meeting time and place: </a:t>
            </a:r>
          </a:p>
          <a:p>
            <a:pPr lvl="1">
              <a:defRPr/>
            </a:pPr>
            <a:r>
              <a:rPr lang="en-US" sz="2000" b="1" dirty="0"/>
              <a:t>Office:</a:t>
            </a:r>
            <a:r>
              <a:rPr lang="en-US" sz="2000" dirty="0"/>
              <a:t> Department of Computer Science (office #1148)</a:t>
            </a:r>
            <a:br>
              <a:rPr lang="en-US" sz="2000" dirty="0"/>
            </a:br>
            <a:endParaRPr lang="en-US" sz="2000" dirty="0"/>
          </a:p>
          <a:p>
            <a:pPr lvl="1">
              <a:defRPr/>
            </a:pPr>
            <a:r>
              <a:rPr lang="en-US" sz="2000" b="1" dirty="0"/>
              <a:t>Office hours:</a:t>
            </a:r>
            <a:r>
              <a:rPr lang="en-US" sz="2000" dirty="0"/>
              <a:t> Please email me if you have any question. If necessary, I will arrange a phone call or a virtual meeting</a:t>
            </a:r>
          </a:p>
          <a:p>
            <a:pPr lvl="1">
              <a:defRPr/>
            </a:pPr>
            <a:r>
              <a:rPr lang="en-US" sz="2000" b="1" dirty="0"/>
              <a:t>Email:</a:t>
            </a:r>
            <a:r>
              <a:rPr lang="en-US" sz="2000" dirty="0"/>
              <a:t> </a:t>
            </a:r>
            <a:r>
              <a:rPr lang="en-US" sz="2000" dirty="0">
                <a:solidFill>
                  <a:srgbClr val="0070C0"/>
                </a:solidFill>
              </a:rPr>
              <a:t>Hssuwat@uqu.edu.sa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B4F2-89EC-46CE-ADA4-B212FA9F3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1825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Learning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28C3C-8AB5-4868-869F-68112A450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Required Textbooks: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Fundamentals of Database Systems, 7th edition Published by Pearson (July 14, 2021) © 2016,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Ramez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Elmasri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, Shamkant B. Navathe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C8C8E8-B5BB-46B0-9930-C1BCC9FAB0F7}"/>
              </a:ext>
            </a:extLst>
          </p:cNvPr>
          <p:cNvCxnSpPr>
            <a:cxnSpLocks/>
          </p:cNvCxnSpPr>
          <p:nvPr/>
        </p:nvCxnSpPr>
        <p:spPr>
          <a:xfrm>
            <a:off x="104775" y="1078232"/>
            <a:ext cx="120872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58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7534556-7464-7350-8B40-08D2B664A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Textbook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39DC7-A996-3230-57CB-D712BBE27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260" y="875763"/>
            <a:ext cx="5178344" cy="5396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14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46A75-F952-0AEA-B4C9-4A66E19D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Course Description 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D4134-0B9C-822E-E43D-35BBC67B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83148"/>
            <a:ext cx="10168128" cy="39958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This course introduces the fundamental concepts necessary for designing, using, and implementing database systems and database applications.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It includes relational (structured) databases, SQL, and non-structured databases such as NoSQL.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Then, the course continues with database security, which includes a discussion of SQL commands for discretionary access control (DAC), as well as mandatory security levels and models for including MAC in relational databases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Also, this course discuss threats such as SQL injection attacks, as well as other techniques and methods related to data security and privacy.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C5167E-1164-925B-D43F-5D501C9B1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45" y="162357"/>
            <a:ext cx="19431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50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14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46A75-F952-0AEA-B4C9-4A66E19D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Course Content</a:t>
            </a:r>
            <a:br>
              <a:rPr lang="en-US" sz="4000" b="1" dirty="0">
                <a:latin typeface="Baskerville Old Face" panose="02020602080505020303" pitchFamily="18" charset="0"/>
              </a:rPr>
            </a:b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C5167E-1164-925B-D43F-5D501C9B1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45" y="162357"/>
            <a:ext cx="1943100" cy="71437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60C90A-92B2-B9FA-7991-DC2E83852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82841"/>
              </p:ext>
            </p:extLst>
          </p:nvPr>
        </p:nvGraphicFramePr>
        <p:xfrm>
          <a:off x="1923394" y="1376186"/>
          <a:ext cx="8029372" cy="5371182"/>
        </p:xfrm>
        <a:graphic>
          <a:graphicData uri="http://schemas.openxmlformats.org/drawingml/2006/table">
            <a:tbl>
              <a:tblPr/>
              <a:tblGrid>
                <a:gridCol w="467043">
                  <a:extLst>
                    <a:ext uri="{9D8B030D-6E8A-4147-A177-3AD203B41FA5}">
                      <a16:colId xmlns:a16="http://schemas.microsoft.com/office/drawing/2014/main" val="3295085715"/>
                    </a:ext>
                  </a:extLst>
                </a:gridCol>
                <a:gridCol w="6303054">
                  <a:extLst>
                    <a:ext uri="{9D8B030D-6E8A-4147-A177-3AD203B41FA5}">
                      <a16:colId xmlns:a16="http://schemas.microsoft.com/office/drawing/2014/main" val="629804875"/>
                    </a:ext>
                  </a:extLst>
                </a:gridCol>
                <a:gridCol w="1259275">
                  <a:extLst>
                    <a:ext uri="{9D8B030D-6E8A-4147-A177-3AD203B41FA5}">
                      <a16:colId xmlns:a16="http://schemas.microsoft.com/office/drawing/2014/main" val="2015508908"/>
                    </a:ext>
                  </a:extLst>
                </a:gridCol>
              </a:tblGrid>
              <a:tr h="551800">
                <a:tc>
                  <a:txBody>
                    <a:bodyPr/>
                    <a:lstStyle/>
                    <a:p>
                      <a:r>
                        <a:rPr lang="en-SA" dirty="0"/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007783"/>
                  </a:ext>
                </a:extLst>
              </a:tr>
              <a:tr h="315315">
                <a:tc>
                  <a:txBody>
                    <a:bodyPr/>
                    <a:lstStyle/>
                    <a:p>
                      <a:r>
                        <a:rPr lang="en-SA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 to Databases and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36404"/>
                  </a:ext>
                </a:extLst>
              </a:tr>
              <a:tr h="354843">
                <a:tc>
                  <a:txBody>
                    <a:bodyPr/>
                    <a:lstStyle/>
                    <a:p>
                      <a:r>
                        <a:rPr lang="en-SA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 System Concepts &amp;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632811"/>
                  </a:ext>
                </a:extLst>
              </a:tr>
              <a:tr h="315315">
                <a:tc>
                  <a:txBody>
                    <a:bodyPr/>
                    <a:lstStyle/>
                    <a:p>
                      <a:r>
                        <a:rPr lang="en-SA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ER Data Modeling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971151"/>
                  </a:ext>
                </a:extLst>
              </a:tr>
              <a:tr h="354843">
                <a:tc>
                  <a:txBody>
                    <a:bodyPr/>
                    <a:lstStyle/>
                    <a:p>
                      <a:r>
                        <a:rPr lang="en-SA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Relational Model &amp; Constraints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95770"/>
                  </a:ext>
                </a:extLst>
              </a:tr>
              <a:tr h="315315">
                <a:tc>
                  <a:txBody>
                    <a:bodyPr/>
                    <a:lstStyle/>
                    <a:p>
                      <a:r>
                        <a:rPr lang="en-SA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(DDL/DML, Queries &amp; Transactions)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546749"/>
                  </a:ext>
                </a:extLst>
              </a:tr>
              <a:tr h="551800">
                <a:tc>
                  <a:txBody>
                    <a:bodyPr/>
                    <a:lstStyle/>
                    <a:p>
                      <a:r>
                        <a:rPr lang="en-SA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Security Threats &amp; Vulnerabilities (Inference, Aggregation, SQL Injection, Corruption, Unauthorized Access)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544135"/>
                  </a:ext>
                </a:extLst>
              </a:tr>
              <a:tr h="551800">
                <a:tc>
                  <a:txBody>
                    <a:bodyPr/>
                    <a:lstStyle/>
                    <a:p>
                      <a:r>
                        <a:rPr lang="en-SA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Control Models &amp; Flow Control (DAC, MAC, RBAC, Clark-Wilson; Flow Control)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732555"/>
                  </a:ext>
                </a:extLst>
              </a:tr>
              <a:tr h="811071">
                <a:tc>
                  <a:txBody>
                    <a:bodyPr/>
                    <a:lstStyle/>
                    <a:p>
                      <a:r>
                        <a:rPr lang="en-SA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Cryptography &amp; Privacy (Hashing, Encryption, Privacy Issues &amp; Preservation)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17900"/>
                  </a:ext>
                </a:extLst>
              </a:tr>
              <a:tr h="811071">
                <a:tc>
                  <a:txBody>
                    <a:bodyPr/>
                    <a:lstStyle/>
                    <a:p>
                      <a:r>
                        <a:rPr lang="en-SA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Object-based &amp; Distributed; NoSQL &amp; Big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A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312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60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D763-0D78-495B-9C61-1214CDD67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88899"/>
            <a:ext cx="10515600" cy="1473191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Assessment Tasks for Students </a:t>
            </a:r>
            <a:br>
              <a:rPr lang="en-US" b="1" dirty="0">
                <a:solidFill>
                  <a:schemeClr val="accent5">
                    <a:lumMod val="75000"/>
                  </a:schemeClr>
                </a:solidFill>
              </a:rPr>
            </a:b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655C73-1860-46E8-BF5F-047AD4773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348008"/>
              </p:ext>
            </p:extLst>
          </p:nvPr>
        </p:nvGraphicFramePr>
        <p:xfrm>
          <a:off x="1467050" y="2188812"/>
          <a:ext cx="8910320" cy="3015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9433">
                  <a:extLst>
                    <a:ext uri="{9D8B030D-6E8A-4147-A177-3AD203B41FA5}">
                      <a16:colId xmlns:a16="http://schemas.microsoft.com/office/drawing/2014/main" val="2993192423"/>
                    </a:ext>
                  </a:extLst>
                </a:gridCol>
                <a:gridCol w="5272494">
                  <a:extLst>
                    <a:ext uri="{9D8B030D-6E8A-4147-A177-3AD203B41FA5}">
                      <a16:colId xmlns:a16="http://schemas.microsoft.com/office/drawing/2014/main" val="4115694689"/>
                    </a:ext>
                  </a:extLst>
                </a:gridCol>
                <a:gridCol w="1279154">
                  <a:extLst>
                    <a:ext uri="{9D8B030D-6E8A-4147-A177-3AD203B41FA5}">
                      <a16:colId xmlns:a16="http://schemas.microsoft.com/office/drawing/2014/main" val="3109270612"/>
                    </a:ext>
                  </a:extLst>
                </a:gridCol>
                <a:gridCol w="1959239">
                  <a:extLst>
                    <a:ext uri="{9D8B030D-6E8A-4147-A177-3AD203B41FA5}">
                      <a16:colId xmlns:a16="http://schemas.microsoft.com/office/drawing/2014/main" val="1549770863"/>
                    </a:ext>
                  </a:extLst>
                </a:gridCol>
              </a:tblGrid>
              <a:tr h="725491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#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</a:rPr>
                        <a:t>Assessment task* 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</a:rPr>
                        <a:t>Week Due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</a:rPr>
                        <a:t>Percentage of Total Assessment Score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0841198"/>
                  </a:ext>
                </a:extLst>
              </a:tr>
              <a:tr h="39572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rtl="1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Baskerville Old Face" panose="02020602080505020303" pitchFamily="18" charset="0"/>
                        </a:rPr>
                        <a:t>Project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1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Baskerville Old Face" panose="02020602080505020303" pitchFamily="18" charset="0"/>
                        </a:rPr>
                        <a:t>W 15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Baskerville Old Face" panose="02020602080505020303" pitchFamily="18" charset="0"/>
                        </a:rPr>
                        <a:t>20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6525033"/>
                  </a:ext>
                </a:extLst>
              </a:tr>
              <a:tr h="362145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rtl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</a:rPr>
                        <a:t>Lab assessments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</a:rPr>
                        <a:t>Weekly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</a:rPr>
                        <a:t>20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0492682"/>
                  </a:ext>
                </a:extLst>
              </a:tr>
              <a:tr h="39572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effectLst/>
                          <a:latin typeface="Baskerville Old Face" panose="02020602080505020303" pitchFamily="18" charset="0"/>
                        </a:rPr>
                        <a:t>Mid-term Exam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  <a:ea typeface="Times New Roman" panose="02020603050405020304" pitchFamily="18" charset="0"/>
                        </a:rPr>
                        <a:t>W 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  <a:ea typeface="Times New Roman" panose="02020603050405020304" pitchFamily="18" charset="0"/>
                        </a:rPr>
                        <a:t>20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2083180"/>
                  </a:ext>
                </a:extLst>
              </a:tr>
              <a:tr h="39572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effectLst/>
                          <a:latin typeface="Baskerville Old Face" panose="02020602080505020303" pitchFamily="18" charset="0"/>
                        </a:rPr>
                        <a:t>Final Exam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rtl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  <a:ea typeface="Times New Roman" panose="02020603050405020304" pitchFamily="18" charset="0"/>
                        </a:rPr>
                        <a:t>W 18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Baskerville Old Face" panose="02020602080505020303" pitchFamily="18" charset="0"/>
                        </a:rPr>
                        <a:t>40</a:t>
                      </a:r>
                      <a:endParaRPr lang="en-US" sz="2400" dirty="0">
                        <a:effectLst/>
                        <a:latin typeface="Baskerville Old Face" panose="020206020805050203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2882294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432857-AAFC-4B5B-ABAC-E848705309D0}"/>
              </a:ext>
            </a:extLst>
          </p:cNvPr>
          <p:cNvCxnSpPr>
            <a:cxnSpLocks/>
          </p:cNvCxnSpPr>
          <p:nvPr/>
        </p:nvCxnSpPr>
        <p:spPr>
          <a:xfrm>
            <a:off x="104775" y="1078232"/>
            <a:ext cx="120872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3F0B29-7F60-7847-AD5E-EA0D081D3F27}"/>
              </a:ext>
            </a:extLst>
          </p:cNvPr>
          <p:cNvSpPr txBox="1"/>
          <p:nvPr/>
        </p:nvSpPr>
        <p:spPr>
          <a:xfrm>
            <a:off x="1922173" y="5646840"/>
            <a:ext cx="6136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score that can be achieved: </a:t>
            </a:r>
            <a:r>
              <a:rPr lang="en-US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2280196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3944322-BD48-E3B4-1759-7EC87F90E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Course</a:t>
            </a:r>
            <a:r>
              <a:rPr lang="en-US" altLang="en-US" dirty="0"/>
              <a:t> </a:t>
            </a: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Information:</a:t>
            </a:r>
            <a:r>
              <a:rPr lang="en-US" altLang="en-US" dirty="0"/>
              <a:t> </a:t>
            </a:r>
            <a:r>
              <a:rPr lang="en-US" altLang="en-US" sz="4000" dirty="0"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</a:rPr>
              <a:t>Feedback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8DDE11F-792D-62C2-5865-EA74968D4E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2743200"/>
            <a:ext cx="8077200" cy="1600200"/>
          </a:xfrm>
        </p:spPr>
        <p:txBody>
          <a:bodyPr/>
          <a:lstStyle/>
          <a:p>
            <a:pPr>
              <a:defRPr/>
            </a:pPr>
            <a:r>
              <a:rPr lang="en-US" altLang="en-US"/>
              <a:t>Please give feedback positive or negative as early as you can via email.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2219</TotalTime>
  <Words>504</Words>
  <Application>Microsoft Office PowerPoint</Application>
  <PresentationFormat>Widescreen</PresentationFormat>
  <Paragraphs>99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ＭＳ Ｐゴシック</vt:lpstr>
      <vt:lpstr>Arial</vt:lpstr>
      <vt:lpstr>Baskerville Old Face</vt:lpstr>
      <vt:lpstr>Calibri</vt:lpstr>
      <vt:lpstr>Calibri Light</vt:lpstr>
      <vt:lpstr>Helvetica</vt:lpstr>
      <vt:lpstr>Times New Roman</vt:lpstr>
      <vt:lpstr>Wingdings</vt:lpstr>
      <vt:lpstr>Office Theme</vt:lpstr>
      <vt:lpstr>Databases Administration and Security (SEC2203)</vt:lpstr>
      <vt:lpstr>Course Information</vt:lpstr>
      <vt:lpstr>Course Information</vt:lpstr>
      <vt:lpstr>Course Information</vt:lpstr>
      <vt:lpstr>Learning Resources</vt:lpstr>
      <vt:lpstr>Textbook</vt:lpstr>
      <vt:lpstr>Course Description </vt:lpstr>
      <vt:lpstr>Course Content </vt:lpstr>
      <vt:lpstr>Assessment Tasks for Students  </vt:lpstr>
      <vt:lpstr>Course Information: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Khlood Alshehri</dc:creator>
  <cp:lastModifiedBy>Hatim S. Alsuwat</cp:lastModifiedBy>
  <cp:revision>25</cp:revision>
  <dcterms:created xsi:type="dcterms:W3CDTF">2023-03-11T15:21:37Z</dcterms:created>
  <dcterms:modified xsi:type="dcterms:W3CDTF">2026-08-30T15:06:20Z</dcterms:modified>
</cp:coreProperties>
</file>